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58" r:id="rId6"/>
    <p:sldId id="260" r:id="rId7"/>
    <p:sldId id="277" r:id="rId8"/>
    <p:sldId id="278" r:id="rId9"/>
    <p:sldId id="279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5" r:id="rId19"/>
    <p:sldId id="282" r:id="rId20"/>
    <p:sldId id="272" r:id="rId21"/>
    <p:sldId id="273" r:id="rId22"/>
    <p:sldId id="283" r:id="rId23"/>
    <p:sldId id="284" r:id="rId24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AF5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F5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F5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74001" y="153162"/>
            <a:ext cx="2194560" cy="914400"/>
          </a:xfrm>
          <a:custGeom>
            <a:avLst/>
            <a:gdLst/>
            <a:ahLst/>
            <a:cxnLst/>
            <a:rect l="l" t="t" r="r" b="b"/>
            <a:pathLst>
              <a:path w="2194559" h="914400">
                <a:moveTo>
                  <a:pt x="0" y="152400"/>
                </a:moveTo>
                <a:lnTo>
                  <a:pt x="2194559" y="154051"/>
                </a:lnTo>
              </a:path>
              <a:path w="2194559" h="914400">
                <a:moveTo>
                  <a:pt x="2040636" y="914400"/>
                </a:moveTo>
                <a:lnTo>
                  <a:pt x="2042287" y="0"/>
                </a:lnTo>
              </a:path>
            </a:pathLst>
          </a:custGeom>
          <a:ln w="28956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837675" y="228600"/>
            <a:ext cx="1905" cy="914400"/>
          </a:xfrm>
          <a:custGeom>
            <a:avLst/>
            <a:gdLst/>
            <a:ahLst/>
            <a:cxnLst/>
            <a:rect l="l" t="t" r="r" b="b"/>
            <a:pathLst>
              <a:path w="1904" h="914400">
                <a:moveTo>
                  <a:pt x="0" y="914400"/>
                </a:moveTo>
                <a:lnTo>
                  <a:pt x="1650" y="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010399" y="381000"/>
            <a:ext cx="2011680" cy="1905"/>
          </a:xfrm>
          <a:custGeom>
            <a:avLst/>
            <a:gdLst/>
            <a:ahLst/>
            <a:cxnLst/>
            <a:rect l="l" t="t" r="r" b="b"/>
            <a:pathLst>
              <a:path w="2011679" h="1904">
                <a:moveTo>
                  <a:pt x="0" y="0"/>
                </a:moveTo>
                <a:lnTo>
                  <a:pt x="2011679" y="165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59842" y="4481322"/>
            <a:ext cx="1905" cy="2194560"/>
          </a:xfrm>
          <a:custGeom>
            <a:avLst/>
            <a:gdLst/>
            <a:ahLst/>
            <a:cxnLst/>
            <a:rect l="l" t="t" r="r" b="b"/>
            <a:pathLst>
              <a:path w="1904" h="2194559">
                <a:moveTo>
                  <a:pt x="1587" y="0"/>
                </a:moveTo>
                <a:lnTo>
                  <a:pt x="0" y="2194560"/>
                </a:lnTo>
              </a:path>
            </a:pathLst>
          </a:custGeom>
          <a:ln w="28956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53162" y="6553961"/>
            <a:ext cx="914400" cy="1905"/>
          </a:xfrm>
          <a:custGeom>
            <a:avLst/>
            <a:gdLst/>
            <a:ahLst/>
            <a:cxnLst/>
            <a:rect l="l" t="t" r="r" b="b"/>
            <a:pathLst>
              <a:path w="914400" h="1904">
                <a:moveTo>
                  <a:pt x="0" y="0"/>
                </a:moveTo>
                <a:lnTo>
                  <a:pt x="914400" y="1587"/>
                </a:lnTo>
              </a:path>
            </a:pathLst>
          </a:custGeom>
          <a:ln w="28956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88976" y="4648200"/>
            <a:ext cx="914400" cy="2011680"/>
          </a:xfrm>
          <a:custGeom>
            <a:avLst/>
            <a:gdLst/>
            <a:ahLst/>
            <a:cxnLst/>
            <a:rect l="l" t="t" r="r" b="b"/>
            <a:pathLst>
              <a:path w="914400" h="2011679">
                <a:moveTo>
                  <a:pt x="0" y="1828800"/>
                </a:moveTo>
                <a:lnTo>
                  <a:pt x="914400" y="1830387"/>
                </a:lnTo>
              </a:path>
              <a:path w="914400" h="2011679">
                <a:moveTo>
                  <a:pt x="117411" y="0"/>
                </a:moveTo>
                <a:lnTo>
                  <a:pt x="115823" y="201168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44156" y="5945123"/>
            <a:ext cx="1344168" cy="737616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48000" y="491300"/>
            <a:ext cx="2888209" cy="3419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AF5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6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874001" y="153162"/>
            <a:ext cx="2194560" cy="914400"/>
          </a:xfrm>
          <a:custGeom>
            <a:avLst/>
            <a:gdLst/>
            <a:ahLst/>
            <a:cxnLst/>
            <a:rect l="l" t="t" r="r" b="b"/>
            <a:pathLst>
              <a:path w="2194559" h="914400">
                <a:moveTo>
                  <a:pt x="0" y="152400"/>
                </a:moveTo>
                <a:lnTo>
                  <a:pt x="2194559" y="154051"/>
                </a:lnTo>
              </a:path>
              <a:path w="2194559" h="914400">
                <a:moveTo>
                  <a:pt x="2040636" y="914400"/>
                </a:moveTo>
                <a:lnTo>
                  <a:pt x="2042287" y="0"/>
                </a:lnTo>
              </a:path>
            </a:pathLst>
          </a:custGeom>
          <a:ln w="28956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8837675" y="228600"/>
            <a:ext cx="1905" cy="914400"/>
          </a:xfrm>
          <a:custGeom>
            <a:avLst/>
            <a:gdLst/>
            <a:ahLst/>
            <a:cxnLst/>
            <a:rect l="l" t="t" r="r" b="b"/>
            <a:pathLst>
              <a:path w="1904" h="914400">
                <a:moveTo>
                  <a:pt x="0" y="914400"/>
                </a:moveTo>
                <a:lnTo>
                  <a:pt x="1650" y="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7010399" y="381000"/>
            <a:ext cx="2011680" cy="1905"/>
          </a:xfrm>
          <a:custGeom>
            <a:avLst/>
            <a:gdLst/>
            <a:ahLst/>
            <a:cxnLst/>
            <a:rect l="l" t="t" r="r" b="b"/>
            <a:pathLst>
              <a:path w="2011679" h="1904">
                <a:moveTo>
                  <a:pt x="0" y="0"/>
                </a:moveTo>
                <a:lnTo>
                  <a:pt x="2011679" y="165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59842" y="4481322"/>
            <a:ext cx="1905" cy="2194560"/>
          </a:xfrm>
          <a:custGeom>
            <a:avLst/>
            <a:gdLst/>
            <a:ahLst/>
            <a:cxnLst/>
            <a:rect l="l" t="t" r="r" b="b"/>
            <a:pathLst>
              <a:path w="1904" h="2194559">
                <a:moveTo>
                  <a:pt x="1587" y="0"/>
                </a:moveTo>
                <a:lnTo>
                  <a:pt x="0" y="2194560"/>
                </a:lnTo>
              </a:path>
            </a:pathLst>
          </a:custGeom>
          <a:ln w="28956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53162" y="6553961"/>
            <a:ext cx="914400" cy="1905"/>
          </a:xfrm>
          <a:custGeom>
            <a:avLst/>
            <a:gdLst/>
            <a:ahLst/>
            <a:cxnLst/>
            <a:rect l="l" t="t" r="r" b="b"/>
            <a:pathLst>
              <a:path w="914400" h="1904">
                <a:moveTo>
                  <a:pt x="0" y="0"/>
                </a:moveTo>
                <a:lnTo>
                  <a:pt x="914400" y="1587"/>
                </a:lnTo>
              </a:path>
            </a:pathLst>
          </a:custGeom>
          <a:ln w="28956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88976" y="4648200"/>
            <a:ext cx="914400" cy="2011680"/>
          </a:xfrm>
          <a:custGeom>
            <a:avLst/>
            <a:gdLst/>
            <a:ahLst/>
            <a:cxnLst/>
            <a:rect l="l" t="t" r="r" b="b"/>
            <a:pathLst>
              <a:path w="914400" h="2011679">
                <a:moveTo>
                  <a:pt x="0" y="1828800"/>
                </a:moveTo>
                <a:lnTo>
                  <a:pt x="914400" y="1830387"/>
                </a:lnTo>
              </a:path>
              <a:path w="914400" h="2011679">
                <a:moveTo>
                  <a:pt x="117411" y="0"/>
                </a:moveTo>
                <a:lnTo>
                  <a:pt x="115823" y="2011680"/>
                </a:lnTo>
              </a:path>
            </a:pathLst>
          </a:custGeom>
          <a:ln w="12192">
            <a:solidFill>
              <a:srgbClr val="0066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44156" y="5945123"/>
            <a:ext cx="1344168" cy="7376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48764" y="402716"/>
            <a:ext cx="6046470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AF50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099464"/>
            <a:ext cx="8074025" cy="469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 panose="020B0604030504040204"/>
                <a:cs typeface="Tahoma" panose="020B060403050404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702175" y="6338570"/>
            <a:ext cx="255270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1" i="0">
                <a:solidFill>
                  <a:schemeClr val="tx1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doi.org/10.1109/ACCESS.2024.3452719" TargetMode="External"/><Relationship Id="rId3" Type="http://schemas.openxmlformats.org/officeDocument/2006/relationships/hyperlink" Target="https://doi.org/10.1109/ACCESS.2024.3349418" TargetMode="External"/><Relationship Id="rId2" Type="http://schemas.openxmlformats.org/officeDocument/2006/relationships/hyperlink" Target="https://doi.org/10.1109/ACCESS.2022.3189676" TargetMode="External"/><Relationship Id="rId1" Type="http://schemas.openxmlformats.org/officeDocument/2006/relationships/hyperlink" Target="https://doi.org/10.1109/ACCESS.2023.3317506" TargetMode="Externa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doi.org/10.1109/ACCESS.2024.3349418" TargetMode="External"/><Relationship Id="rId4" Type="http://schemas.openxmlformats.org/officeDocument/2006/relationships/hyperlink" Target="https://doi.org/10.1109/ACCESS.2024.3413979" TargetMode="External"/><Relationship Id="rId3" Type="http://schemas.openxmlformats.org/officeDocument/2006/relationships/hyperlink" Target="https://doi.org/10.1109/ACCESS.2021.3069646" TargetMode="External"/><Relationship Id="rId2" Type="http://schemas.openxmlformats.org/officeDocument/2006/relationships/hyperlink" Target="https://doi.org/10.26599/BDMA.2020.9020021" TargetMode="External"/><Relationship Id="rId1" Type="http://schemas.openxmlformats.org/officeDocument/2006/relationships/hyperlink" Target="https://doi.org/10.1109/ACCESS.2025.3540279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41882" y="373507"/>
            <a:ext cx="6632575" cy="381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4585" marR="5080" indent="-1112520">
              <a:lnSpc>
                <a:spcPct val="100000"/>
              </a:lnSpc>
              <a:spcBef>
                <a:spcPts val="100"/>
              </a:spcBef>
            </a:pP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/>
          <p:cNvSpPr/>
          <p:nvPr/>
        </p:nvSpPr>
        <p:spPr>
          <a:xfrm>
            <a:off x="379095" y="877570"/>
            <a:ext cx="8075930" cy="35902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</a:t>
            </a:r>
            <a:r>
              <a:rPr lang="en-US" sz="28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b="1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endParaRPr lang="en-US" sz="2800" b="1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60325" algn="ctr">
              <a:lnSpc>
                <a:spcPct val="115000"/>
              </a:lnSpc>
              <a:spcAft>
                <a:spcPts val="1000"/>
              </a:spcAft>
              <a:tabLst>
                <a:tab pos="304800" algn="l"/>
              </a:tabLst>
            </a:pPr>
            <a:r>
              <a:rPr lang="en-I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Crop Pest Detection &amp; Classification Using Deep Learning</a:t>
            </a:r>
            <a:endParaRPr lang="en-IN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algn="ctr">
              <a:buSzPts val="1400"/>
            </a:pPr>
            <a:r>
              <a:rPr lang="en-US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/>
                <a:cs typeface="Times New Roman" panose="02020603050405020304" pitchFamily="18" charset="0"/>
                <a:sym typeface="Verdana" panose="020B0604030504040204"/>
              </a:rPr>
              <a:t>8th International Conference on</a:t>
            </a:r>
            <a:r>
              <a:rPr lang="en-IN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/>
                <a:cs typeface="Times New Roman" panose="02020603050405020304" pitchFamily="18" charset="0"/>
                <a:sym typeface="Verdana" panose="020B0604030504040204"/>
              </a:rPr>
              <a:t> </a:t>
            </a:r>
            <a:r>
              <a:rPr lang="en-US" altLang="en-US" sz="1800" b="1" dirty="0">
                <a:solidFill>
                  <a:srgbClr val="0070C0"/>
                </a:solidFill>
                <a:latin typeface="Times New Roman" panose="02020603050405020304" pitchFamily="18" charset="0"/>
                <a:ea typeface="Verdana" panose="020B0604030504040204"/>
                <a:cs typeface="Times New Roman" panose="02020603050405020304" pitchFamily="18" charset="0"/>
                <a:sym typeface="Verdana" panose="020B0604030504040204"/>
              </a:rPr>
              <a:t>Intelligent Sustainable Systems - ICISS 2026</a:t>
            </a:r>
            <a:br>
              <a:rPr lang="en-US" sz="18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</a:br>
            <a:r>
              <a:rPr lang="en-I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4</a:t>
            </a:r>
            <a:r>
              <a:rPr lang="en-US" sz="16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th</a:t>
            </a:r>
            <a:r>
              <a:rPr lang="en-IN" altLang="en-US" sz="16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 &amp;  </a:t>
            </a:r>
            <a:r>
              <a:rPr lang="en-I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5</a:t>
            </a:r>
            <a:r>
              <a:rPr lang="en-US" sz="1600" b="1" baseline="30000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th</a:t>
            </a:r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 </a:t>
            </a:r>
            <a:r>
              <a:rPr lang="en-I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March</a:t>
            </a:r>
            <a:r>
              <a:rPr 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 202</a:t>
            </a:r>
            <a:r>
              <a:rPr lang="en-IN" altLang="en-US" sz="1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</a:rPr>
              <a:t>6</a:t>
            </a:r>
            <a:endParaRPr lang="en-IN" altLang="en-US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algn="ctr">
              <a:buSzPts val="1400"/>
            </a:pPr>
            <a:endParaRPr lang="en-US" sz="1600" b="1" dirty="0" smtClean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smtClean="0">
                <a:solidFill>
                  <a:srgbClr val="33CC33"/>
                </a:solidFill>
                <a:latin typeface="Times New Roman" panose="02020603050405020304" pitchFamily="18" charset="0"/>
                <a:ea typeface="Calibri" panose="020F0502020204030204"/>
                <a:cs typeface="Times New Roman" panose="02020603050405020304" pitchFamily="18" charset="0"/>
              </a:rPr>
              <a:t>PAPER ID: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n-I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alt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0435</a:t>
            </a:r>
            <a:endParaRPr lang="en-US" altLang="en-US" sz="2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Verdana" panose="020B0604030504040204"/>
              <a:cs typeface="Times New Roman" panose="02020603050405020304" pitchFamily="18" charset="0"/>
              <a:sym typeface="Verdana" panose="020B0604030504040204"/>
            </a:endParaRPr>
          </a:p>
          <a:p>
            <a:pPr algn="ctr"/>
            <a:endParaRPr lang="en-US" sz="2400" b="1" dirty="0" smtClean="0">
              <a:solidFill>
                <a:srgbClr val="33CC33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sp>
        <p:nvSpPr>
          <p:cNvPr id="9" name="Rectangle 4"/>
          <p:cNvSpPr/>
          <p:nvPr/>
        </p:nvSpPr>
        <p:spPr>
          <a:xfrm>
            <a:off x="6219190" y="4336415"/>
            <a:ext cx="2811145" cy="168656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Authored by</a:t>
            </a:r>
            <a:endParaRPr lang="en-US" sz="2000" b="1" dirty="0" smtClean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Dr.D.Ganesh</a:t>
            </a:r>
            <a:endParaRPr 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Dr.M</a:t>
            </a:r>
            <a:r>
              <a:rPr 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Sunil Kumar</a:t>
            </a:r>
            <a:endParaRPr 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M.L.Tejaswi</a:t>
            </a:r>
            <a:endParaRPr lang="en-I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P.Vanaja</a:t>
            </a:r>
            <a:endParaRPr lang="en-I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R.Bharath Kumar</a:t>
            </a:r>
            <a:endParaRPr lang="en-I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altLang="en-US" sz="2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S.Ajith Kumar</a:t>
            </a:r>
            <a:endParaRPr lang="en-IN" altLang="en-US" sz="2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1.jpeg" descr="F:\To CEO Sir\MBU FINAL DOCUMENT-Sept 2021\MBU 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16000" y="4921250"/>
            <a:ext cx="2669540" cy="1124585"/>
          </a:xfrm>
          <a:prstGeom prst="rect">
            <a:avLst/>
          </a:prstGeom>
        </p:spPr>
      </p:pic>
      <p:pic>
        <p:nvPicPr>
          <p:cNvPr id="11" name="Picture 10" descr="C:\Users\AIML\Desktop\MBU LOGO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8428990" cy="697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063497"/>
            <a:ext cx="3985260" cy="451421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18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5765" indent="-393065">
              <a:lnSpc>
                <a:spcPct val="100000"/>
              </a:lnSpc>
              <a:spcBef>
                <a:spcPts val="1035"/>
              </a:spcBef>
              <a:buChar char="•"/>
              <a:tabLst>
                <a:tab pos="405765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sz="1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</a:t>
            </a:r>
            <a:endParaRPr lang="en-IN" alt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54965" indent="-342265">
              <a:lnSpc>
                <a:spcPct val="100000"/>
              </a:lnSpc>
              <a:spcBef>
                <a:spcPts val="1030"/>
              </a:spcBef>
              <a:buFont typeface="Arial MT"/>
              <a:buChar char="•"/>
              <a:tabLst>
                <a:tab pos="354965" algn="l"/>
              </a:tabLst>
            </a:pPr>
            <a:r>
              <a:rPr lang="en-IN" altLang="" sz="18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103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le 6"/>
          <p:cNvSpPr/>
          <p:nvPr>
            <p:ph type="title"/>
          </p:nvPr>
        </p:nvSpPr>
        <p:spPr>
          <a:xfrm>
            <a:off x="1548765" y="402590"/>
            <a:ext cx="5801360" cy="661670"/>
          </a:xfrm>
        </p:spPr>
        <p:txBody>
          <a:bodyPr>
            <a:noAutofit/>
          </a:bodyPr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Table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of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Contents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199" y="463676"/>
            <a:ext cx="604647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10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6193" y="1139697"/>
            <a:ext cx="7975600" cy="200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 algn="just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  <a:r>
              <a:rPr sz="1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</a:t>
            </a:r>
            <a:r>
              <a:rPr sz="1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crucial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</a:t>
            </a:r>
            <a:r>
              <a:rPr sz="1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sz="1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security,</a:t>
            </a:r>
            <a:r>
              <a:rPr sz="1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butcrop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</a:t>
            </a:r>
            <a:r>
              <a:rPr sz="18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</a:t>
            </a:r>
            <a:r>
              <a:rPr sz="1800" spc="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threaten</a:t>
            </a:r>
            <a:r>
              <a:rPr sz="18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yields,</a:t>
            </a:r>
            <a:r>
              <a:rPr sz="18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sz="18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substantial</a:t>
            </a:r>
            <a:r>
              <a:rPr sz="1800" spc="2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sz="18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r>
              <a:rPr sz="18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shortages.</a:t>
            </a:r>
            <a:r>
              <a:rPr sz="1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</a:t>
            </a:r>
            <a:r>
              <a:rPr sz="1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methods,</a:t>
            </a:r>
            <a:r>
              <a:rPr sz="1800" spc="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</a:t>
            </a:r>
            <a:r>
              <a:rPr sz="1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scouting</a:t>
            </a:r>
            <a:r>
              <a:rPr sz="18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treatments,</a:t>
            </a:r>
            <a:r>
              <a:rPr sz="18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800" spc="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consuming,</a:t>
            </a:r>
            <a:r>
              <a:rPr sz="18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labor-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intensive,</a:t>
            </a:r>
            <a:r>
              <a:rPr sz="18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often</a:t>
            </a:r>
            <a:r>
              <a:rPr sz="1800" spc="3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inaccurate.</a:t>
            </a:r>
            <a:r>
              <a:rPr sz="18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spc="3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result,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</a:t>
            </a:r>
            <a:r>
              <a:rPr sz="1800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sz="1800" spc="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8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sz="1800" spc="3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1800" spc="3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emerged</a:t>
            </a:r>
            <a:r>
              <a:rPr sz="1800" spc="3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95883" y="3505200"/>
            <a:ext cx="2302764" cy="24597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3474720"/>
            <a:ext cx="2663952" cy="244449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3177539"/>
            <a:ext cx="2537459" cy="274015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3999" y="533526"/>
            <a:ext cx="604647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2473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35940" y="1143279"/>
            <a:ext cx="8074025" cy="4690110"/>
          </a:xfrm>
          <a:prstGeom prst="rect">
            <a:avLst/>
          </a:prstGeom>
        </p:spPr>
        <p:txBody>
          <a:bodyPr vert="horz" wrap="square" lIns="0" tIns="61163" rIns="0" bIns="0" rtlCol="0">
            <a:spAutoFit/>
          </a:bodyPr>
          <a:lstStyle/>
          <a:p>
            <a:pPr marL="12700" marR="5080" indent="55880" algn="just">
              <a:lnSpc>
                <a:spcPct val="120000"/>
              </a:lnSpc>
              <a:spcBef>
                <a:spcPts val="100"/>
              </a:spcBef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</a:t>
            </a:r>
            <a:r>
              <a:rPr sz="1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14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pesticides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associated</a:t>
            </a:r>
            <a:r>
              <a:rPr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</a:t>
            </a:r>
            <a:r>
              <a:rPr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losses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sz="14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promotion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amounts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harm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health.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rural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continues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resources,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sz="14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visually</a:t>
            </a:r>
            <a:r>
              <a:rPr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pests.</a:t>
            </a:r>
            <a:r>
              <a:rPr sz="14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</a:t>
            </a:r>
            <a:r>
              <a:rPr sz="14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issues, this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</a:t>
            </a:r>
            <a:r>
              <a:rPr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system, which</a:t>
            </a:r>
            <a:r>
              <a:rPr sz="1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14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DeepestNet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B4,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1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  <a:r>
              <a:rPr sz="1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  <a:r>
              <a:rPr sz="1400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400"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400"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r>
              <a:rPr sz="1400"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1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</a:t>
            </a:r>
            <a:r>
              <a:rPr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z="1400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extractor</a:t>
            </a:r>
            <a:r>
              <a:rPr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DeepestNet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1400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classes.</a:t>
            </a:r>
            <a:r>
              <a:rPr sz="1400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4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4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14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</a:t>
            </a:r>
            <a:r>
              <a:rPr sz="14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annotated</a:t>
            </a:r>
            <a:r>
              <a:rPr sz="14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4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sz="14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1400" spc="2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1400" spc="2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1400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sz="1400" spc="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4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1400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measured</a:t>
            </a:r>
            <a:r>
              <a:rPr sz="14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400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sz="1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400" spc="4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</a:t>
            </a:r>
            <a:r>
              <a:rPr sz="1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1400" spc="4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400" spc="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accuracy,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precision,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score.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sz="1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</a:t>
            </a:r>
            <a:r>
              <a:rPr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CNN,</a:t>
            </a:r>
            <a:r>
              <a:rPr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CNN,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superior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95.4.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highly</a:t>
            </a:r>
            <a:r>
              <a:rPr sz="14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r>
              <a:rPr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4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sz="1400"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</a:t>
            </a:r>
            <a:r>
              <a:rPr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1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sz="1400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</a:t>
            </a:r>
            <a:r>
              <a:rPr sz="1400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accuracy.</a:t>
            </a:r>
            <a:r>
              <a:rPr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</a:t>
            </a:r>
            <a:r>
              <a:rPr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</a:t>
            </a:r>
            <a:r>
              <a:rPr sz="1400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time,</a:t>
            </a:r>
            <a:r>
              <a:rPr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4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unneeded</a:t>
            </a:r>
            <a:r>
              <a:rPr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4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4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pesticides,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</a:t>
            </a:r>
            <a:r>
              <a:rPr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productivity,</a:t>
            </a:r>
            <a:r>
              <a:rPr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</a:t>
            </a:r>
            <a:r>
              <a:rPr sz="1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</a:t>
            </a:r>
            <a:r>
              <a:rPr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sz="1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practices</a:t>
            </a:r>
            <a:r>
              <a:rPr sz="1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1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sustainable.</a:t>
            </a:r>
            <a:endParaRPr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527050"/>
            <a:ext cx="6046470" cy="405765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197104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1066517"/>
            <a:ext cx="8073390" cy="1823720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125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model,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20000"/>
              </a:lnSpc>
              <a:spcBef>
                <a:spcPts val="600"/>
              </a:spcBef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DeepestNet,</a:t>
            </a:r>
            <a:r>
              <a:rPr sz="18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8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recognition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sz="18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  <a:r>
              <a:rPr sz="18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backbone</a:t>
            </a:r>
            <a:r>
              <a:rPr sz="18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network.</a:t>
            </a:r>
            <a:r>
              <a:rPr sz="18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z="18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8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sz="1800"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18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800" spc="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efficient,</a:t>
            </a:r>
            <a:r>
              <a:rPr sz="1800"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</a:t>
            </a:r>
            <a:r>
              <a:rPr sz="1800"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</a:t>
            </a:r>
            <a:r>
              <a:rPr sz="1800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approach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2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</a:t>
            </a:r>
            <a:r>
              <a:rPr sz="1800"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</a:t>
            </a:r>
            <a:r>
              <a:rPr sz="18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pests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8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images,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enabling</a:t>
            </a:r>
            <a:r>
              <a:rPr sz="1800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</a:t>
            </a:r>
            <a:r>
              <a:rPr sz="1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sz="18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43000" y="2819400"/>
            <a:ext cx="6784848" cy="320497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4" y="402716"/>
            <a:ext cx="6046470" cy="400050"/>
          </a:xfrm>
        </p:spPr>
        <p:txBody>
          <a:bodyPr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Survey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099185"/>
            <a:ext cx="7363460" cy="409575"/>
          </a:xfrm>
        </p:spPr>
        <p:txBody>
          <a:bodyPr>
            <a:noAutofit/>
          </a:bodyPr>
          <a:p>
            <a:endParaRPr lang="en-US"/>
          </a:p>
        </p:txBody>
      </p:sp>
      <p:pic>
        <p:nvPicPr>
          <p:cNvPr id="4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5940" y="1099185"/>
            <a:ext cx="7585075" cy="4878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4" y="402716"/>
            <a:ext cx="6046470" cy="400050"/>
          </a:xfrm>
        </p:spPr>
        <p:txBody>
          <a:bodyPr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Survey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1570" y="1099185"/>
            <a:ext cx="7059295" cy="235585"/>
          </a:xfrm>
        </p:spPr>
        <p:txBody>
          <a:bodyPr>
            <a:noAutofit/>
          </a:bodyPr>
          <a:p>
            <a:endParaRPr lang="en-US"/>
          </a:p>
        </p:txBody>
      </p:sp>
      <p:pic>
        <p:nvPicPr>
          <p:cNvPr id="4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42772" y="1115143"/>
            <a:ext cx="7459980" cy="4810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4" y="402716"/>
            <a:ext cx="6046470" cy="400050"/>
          </a:xfrm>
        </p:spPr>
        <p:txBody>
          <a:bodyPr/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Survey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9010" y="1099185"/>
            <a:ext cx="6987540" cy="347980"/>
          </a:xfrm>
        </p:spPr>
        <p:txBody>
          <a:bodyPr>
            <a:noAutofit/>
          </a:bodyPr>
          <a:p>
            <a:endParaRPr lang="en-US"/>
          </a:p>
        </p:txBody>
      </p:sp>
      <p:pic>
        <p:nvPicPr>
          <p:cNvPr id="4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09600" y="914400"/>
            <a:ext cx="8229600" cy="2133600"/>
          </a:xfrm>
          <a:prstGeom prst="rect">
            <a:avLst/>
          </a:prstGeom>
        </p:spPr>
      </p:pic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082" y="3182122"/>
            <a:ext cx="7686222" cy="1850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764" y="533526"/>
            <a:ext cx="604647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1351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139697"/>
            <a:ext cx="8072755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18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DeepPestNet-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8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8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800" spc="3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18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recognition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and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pests,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integrate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advanced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processing,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feature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extraction,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8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neural</a:t>
            </a:r>
            <a:r>
              <a:rPr sz="18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networks.</a:t>
            </a:r>
            <a:r>
              <a:rPr sz="18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80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enhances</a:t>
            </a:r>
            <a:r>
              <a:rPr sz="18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800" spc="3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3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identification</a:t>
            </a:r>
            <a:r>
              <a:rPr sz="1800" spc="3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3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supports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precision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agriculture.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Farmers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agronomists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can</a:t>
            </a:r>
            <a:r>
              <a:rPr sz="18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make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timely</a:t>
            </a:r>
            <a:r>
              <a:rPr sz="18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control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decisions,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reducing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loss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optimizing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yield.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52599" y="609726"/>
            <a:ext cx="604647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820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219454"/>
            <a:ext cx="8073390" cy="4104640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Objective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b="1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identify</a:t>
            </a:r>
            <a:r>
              <a:rPr sz="1800" b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b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most</a:t>
            </a:r>
            <a:r>
              <a:rPr sz="1800" b="1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accurate</a:t>
            </a:r>
            <a:r>
              <a:rPr sz="1800" b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computationally</a:t>
            </a:r>
            <a:r>
              <a:rPr sz="1800" b="1" spc="1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800" b="1" spc="1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800" b="1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800" b="1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model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43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b="1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detection.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Research</a:t>
            </a:r>
            <a:r>
              <a:rPr sz="18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Gap: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2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spc="12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bridge</a:t>
            </a:r>
            <a:r>
              <a:rPr sz="1800" spc="12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these</a:t>
            </a:r>
            <a:r>
              <a:rPr sz="180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gaps,</a:t>
            </a:r>
            <a:r>
              <a:rPr sz="180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this</a:t>
            </a:r>
            <a:r>
              <a:rPr sz="1800" spc="12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research</a:t>
            </a:r>
            <a:r>
              <a:rPr sz="18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proposes</a:t>
            </a:r>
            <a:r>
              <a:rPr sz="180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DeepestNet</a:t>
            </a:r>
            <a:r>
              <a:rPr sz="18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integrated</a:t>
            </a:r>
            <a:r>
              <a:rPr sz="1800" spc="12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with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EfficientNet-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B4,</a:t>
            </a:r>
            <a:r>
              <a:rPr sz="1800" spc="1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designed</a:t>
            </a:r>
            <a:r>
              <a:rPr sz="18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achieve</a:t>
            </a:r>
            <a:r>
              <a:rPr sz="180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high</a:t>
            </a:r>
            <a:r>
              <a:rPr sz="1800" spc="13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accuracy</a:t>
            </a:r>
            <a:r>
              <a:rPr sz="1800" spc="1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800" spc="13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low</a:t>
            </a:r>
            <a:r>
              <a:rPr sz="1800" spc="1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computational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complexity,</a:t>
            </a:r>
            <a:r>
              <a:rPr sz="18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enabling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time,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edge-deployable,</a:t>
            </a:r>
            <a:r>
              <a:rPr sz="18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18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detection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practical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agricultural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conditions.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103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Expected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Outcome: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4965" indent="-342265" algn="just">
              <a:lnSpc>
                <a:spcPct val="100000"/>
              </a:lnSpc>
              <a:spcBef>
                <a:spcPts val="103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Identification</a:t>
            </a:r>
            <a:r>
              <a:rPr sz="18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3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high-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performing</a:t>
            </a:r>
            <a:r>
              <a:rPr sz="1800" spc="3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yet</a:t>
            </a:r>
            <a:r>
              <a:rPr sz="18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computationally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baseline</a:t>
            </a:r>
            <a:r>
              <a:rPr sz="18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model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algn="just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suitable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real-time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field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conditions.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399" y="609726"/>
            <a:ext cx="604647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4820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071117"/>
            <a:ext cx="8072755" cy="3500754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Objective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b="1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develop</a:t>
            </a:r>
            <a:r>
              <a:rPr sz="1800" b="1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physics-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enhanced</a:t>
            </a:r>
            <a:r>
              <a:rPr sz="1800" b="1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spatio-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1800" b="1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800" b="1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800" b="1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800" b="1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b="1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accurate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time-consistent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assessment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precision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agriculture.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Research</a:t>
            </a:r>
            <a:r>
              <a:rPr sz="18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Gap: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Existing</a:t>
            </a:r>
            <a:r>
              <a:rPr sz="1800" spc="4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800" spc="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models</a:t>
            </a:r>
            <a:r>
              <a:rPr sz="1800" spc="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lack</a:t>
            </a:r>
            <a:r>
              <a:rPr sz="1800" spc="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1800" spc="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modeling,</a:t>
            </a:r>
            <a:r>
              <a:rPr sz="1800" spc="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biological</a:t>
            </a:r>
            <a:r>
              <a:rPr sz="18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consistency, multi-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task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prediction,</a:t>
            </a:r>
            <a:r>
              <a:rPr sz="1800" spc="3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time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deployability,</a:t>
            </a:r>
            <a:r>
              <a:rPr sz="18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3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robustness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spc="3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field</a:t>
            </a:r>
            <a:r>
              <a:rPr sz="1800" spc="3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conditions,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limiting</a:t>
            </a:r>
            <a:r>
              <a:rPr sz="18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their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effectiveness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precision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agriculture.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82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Expected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Outcome: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Improved</a:t>
            </a:r>
            <a:r>
              <a:rPr sz="18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8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accuracy,</a:t>
            </a:r>
            <a:r>
              <a:rPr sz="18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18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consistency,</a:t>
            </a:r>
            <a:r>
              <a:rPr sz="18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robustness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compared</a:t>
            </a:r>
            <a:r>
              <a:rPr sz="18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to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single-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frame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purely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data-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models.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6400" y="641350"/>
            <a:ext cx="6046470" cy="505460"/>
          </a:xfrm>
          <a:prstGeom prst="rect">
            <a:avLst/>
          </a:prstGeom>
        </p:spPr>
        <p:txBody>
          <a:bodyPr vert="horz" wrap="square" lIns="0" tIns="13335" rIns="0" bIns="0" rtlCol="0">
            <a:noAutofit/>
          </a:bodyPr>
          <a:lstStyle/>
          <a:p>
            <a:pPr marL="214820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1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Objective</a:t>
            </a:r>
            <a:r>
              <a:rPr sz="1800" b="1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3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5080" indent="-342900" algn="just">
              <a:lnSpc>
                <a:spcPct val="11000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b="1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formulate</a:t>
            </a:r>
            <a:r>
              <a:rPr sz="1800" b="1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b="1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biologically</a:t>
            </a:r>
            <a:r>
              <a:rPr sz="1800" b="1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consistent,</a:t>
            </a:r>
            <a:r>
              <a:rPr sz="1800" b="1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multi-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task</a:t>
            </a:r>
            <a:r>
              <a:rPr sz="1800" b="1" spc="4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b="1" spc="4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analysis</a:t>
            </a:r>
            <a:r>
              <a:rPr sz="1800" b="1" spc="48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framework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integrating</a:t>
            </a:r>
            <a:r>
              <a:rPr sz="1800" b="1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1800" b="1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1800" b="1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physics-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guided</a:t>
            </a:r>
            <a:r>
              <a:rPr sz="1800" b="1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constraints</a:t>
            </a:r>
            <a:r>
              <a:rPr sz="1800" b="1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b="1" spc="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species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classification,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life-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stage</a:t>
            </a:r>
            <a:r>
              <a:rPr sz="1800" b="1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prediction,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b="1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infestation</a:t>
            </a:r>
            <a:r>
              <a:rPr sz="1800" b="1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dirty="0">
                <a:latin typeface="Times New Roman" panose="02020603050405020304"/>
                <a:cs typeface="Times New Roman" panose="02020603050405020304"/>
              </a:rPr>
              <a:t>severity</a:t>
            </a:r>
            <a:r>
              <a:rPr sz="1800" b="1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estimation.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820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Research</a:t>
            </a:r>
            <a:r>
              <a:rPr sz="1800" b="1" spc="-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20" dirty="0">
                <a:latin typeface="Times New Roman" panose="02020603050405020304"/>
                <a:cs typeface="Times New Roman" panose="02020603050405020304"/>
              </a:rPr>
              <a:t>Gap: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6350" indent="-342900" algn="just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Current</a:t>
            </a:r>
            <a:r>
              <a:rPr sz="18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8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systems</a:t>
            </a:r>
            <a:r>
              <a:rPr sz="18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do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not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integrate</a:t>
            </a:r>
            <a:r>
              <a:rPr sz="18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temporal</a:t>
            </a:r>
            <a:r>
              <a:rPr sz="18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attention</a:t>
            </a:r>
            <a:r>
              <a:rPr sz="18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8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biology-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800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constraints</a:t>
            </a:r>
            <a:r>
              <a:rPr sz="1800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simultaneous</a:t>
            </a:r>
            <a:r>
              <a:rPr sz="1800" spc="11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species,</a:t>
            </a:r>
            <a:r>
              <a:rPr sz="1800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life-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stage,</a:t>
            </a:r>
            <a:r>
              <a:rPr sz="1800" spc="11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10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severity</a:t>
            </a:r>
            <a:r>
              <a:rPr sz="1800" spc="12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analysis,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limiting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early-warning</a:t>
            </a:r>
            <a:r>
              <a:rPr sz="18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decision-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capabilities.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ct val="100000"/>
              </a:lnSpc>
              <a:spcBef>
                <a:spcPts val="815"/>
              </a:spcBef>
            </a:pPr>
            <a:r>
              <a:rPr sz="1800" b="1" dirty="0">
                <a:latin typeface="Times New Roman" panose="02020603050405020304"/>
                <a:cs typeface="Times New Roman" panose="02020603050405020304"/>
              </a:rPr>
              <a:t>Expected</a:t>
            </a:r>
            <a:r>
              <a:rPr sz="1800" b="1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b="1" spc="-10" dirty="0">
                <a:latin typeface="Times New Roman" panose="02020603050405020304"/>
                <a:cs typeface="Times New Roman" panose="02020603050405020304"/>
              </a:rPr>
              <a:t>Outcome: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355600" marR="6350" indent="-342900" algn="just">
              <a:lnSpc>
                <a:spcPct val="11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8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reliable</a:t>
            </a:r>
            <a:r>
              <a:rPr sz="18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decision-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support</a:t>
            </a:r>
            <a:r>
              <a:rPr sz="18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8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capable</a:t>
            </a:r>
            <a:r>
              <a:rPr sz="18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8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early</a:t>
            </a:r>
            <a:r>
              <a:rPr sz="18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warning,</a:t>
            </a:r>
            <a:r>
              <a:rPr sz="18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severity</a:t>
            </a:r>
            <a:r>
              <a:rPr sz="18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assessment,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biologically</a:t>
            </a:r>
            <a:r>
              <a:rPr sz="18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meaningful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predictions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precision</a:t>
            </a:r>
            <a:r>
              <a:rPr sz="18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agriculture.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765" y="402590"/>
            <a:ext cx="634365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7409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6800" y="2286000"/>
            <a:ext cx="6766559" cy="39090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69644" y="980694"/>
            <a:ext cx="719709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3175" algn="just">
              <a:lnSpc>
                <a:spcPct val="100000"/>
              </a:lnSpc>
              <a:spcBef>
                <a:spcPts val="100"/>
              </a:spcBef>
              <a:buSzPct val="94000"/>
              <a:buFont typeface="Wingdings" panose="05000000000000000000"/>
              <a:buChar char=""/>
              <a:tabLst>
                <a:tab pos="19367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180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proposed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system</a:t>
            </a:r>
            <a:r>
              <a:rPr sz="18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8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800" spc="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classification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8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DeepestNet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8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EfficientNet-</a:t>
            </a:r>
            <a:r>
              <a:rPr sz="1800" spc="-25" dirty="0">
                <a:latin typeface="Times New Roman" panose="02020603050405020304"/>
                <a:cs typeface="Times New Roman" panose="02020603050405020304"/>
              </a:rPr>
              <a:t>B4.</a:t>
            </a:r>
            <a:endParaRPr sz="1800">
              <a:latin typeface="Times New Roman" panose="02020603050405020304"/>
              <a:cs typeface="Times New Roman" panose="02020603050405020304"/>
            </a:endParaRPr>
          </a:p>
          <a:p>
            <a:pPr marL="12700" marR="5715" indent="-3175" algn="just">
              <a:lnSpc>
                <a:spcPct val="100000"/>
              </a:lnSpc>
              <a:buSzPct val="94000"/>
              <a:buFont typeface="Wingdings" panose="05000000000000000000"/>
              <a:buChar char=""/>
              <a:tabLst>
                <a:tab pos="193675" algn="l"/>
              </a:tabLst>
            </a:pPr>
            <a:r>
              <a:rPr sz="18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The goal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is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to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provide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farmers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with an</a:t>
            </a:r>
            <a:r>
              <a:rPr sz="18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efficient,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accurate, and</a:t>
            </a:r>
            <a:r>
              <a:rPr sz="18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real-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time </a:t>
            </a:r>
            <a:r>
              <a:rPr sz="1800" spc="-20" dirty="0">
                <a:latin typeface="Times New Roman" panose="02020603050405020304"/>
                <a:cs typeface="Times New Roman" panose="02020603050405020304"/>
              </a:rPr>
              <a:t>pest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recognition</a:t>
            </a:r>
            <a:r>
              <a:rPr sz="1800" spc="2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system,</a:t>
            </a:r>
            <a:r>
              <a:rPr sz="1800" spc="20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reducing</a:t>
            </a:r>
            <a:r>
              <a:rPr sz="1800" spc="19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800" spc="20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losses</a:t>
            </a:r>
            <a:r>
              <a:rPr sz="1800" spc="195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800" spc="2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optimizing</a:t>
            </a:r>
            <a:r>
              <a:rPr sz="1800" spc="204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800" spc="20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800" spc="-10" dirty="0">
                <a:latin typeface="Times New Roman" panose="02020603050405020304"/>
                <a:cs typeface="Times New Roman" panose="02020603050405020304"/>
              </a:rPr>
              <a:t>control measures.</a:t>
            </a:r>
            <a:endParaRPr sz="1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765" y="402590"/>
            <a:ext cx="727202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219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535940" y="1099185"/>
            <a:ext cx="5572760" cy="4904105"/>
          </a:xfrm>
          <a:prstGeom prst="rect">
            <a:avLst/>
          </a:prstGeom>
        </p:spPr>
        <p:txBody>
          <a:bodyPr vert="horz" wrap="square" lIns="0" tIns="88900" rIns="0" bIns="0" rtlCol="0">
            <a:noAutofit/>
          </a:bodyPr>
          <a:lstStyle/>
          <a:p>
            <a:pPr marL="311150" indent="-234950" algn="just">
              <a:lnSpc>
                <a:spcPct val="100000"/>
              </a:lnSpc>
              <a:spcBef>
                <a:spcPts val="700"/>
              </a:spcBef>
              <a:buAutoNum type="arabicPeriod"/>
              <a:tabLst>
                <a:tab pos="31115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spc="-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985" algn="just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begins</a:t>
            </a:r>
            <a:r>
              <a:rPr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</a:t>
            </a:r>
            <a:r>
              <a:rPr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</a:t>
            </a:r>
            <a:r>
              <a:rPr spc="2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smartphone.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650" indent="-234950" algn="just">
              <a:lnSpc>
                <a:spcPct val="100000"/>
              </a:lnSpc>
              <a:spcBef>
                <a:spcPts val="600"/>
              </a:spcBef>
              <a:buAutoNum type="arabicPeriod" startAt="2"/>
              <a:tabLst>
                <a:tab pos="24765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6985" algn="just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pc="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</a:t>
            </a:r>
            <a:r>
              <a:rPr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  <a:r>
              <a:rPr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</a:t>
            </a:r>
            <a:r>
              <a:rPr spc="2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25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</a:t>
            </a:r>
            <a:r>
              <a:rPr spc="2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format,</a:t>
            </a:r>
            <a:r>
              <a:rPr spc="2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extraction,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resistance</a:t>
            </a:r>
            <a:r>
              <a:rPr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alteration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around.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650" indent="-234950" algn="just">
              <a:lnSpc>
                <a:spcPct val="100000"/>
              </a:lnSpc>
              <a:spcBef>
                <a:spcPts val="600"/>
              </a:spcBef>
              <a:buAutoNum type="arabicPeriod" startAt="3"/>
              <a:tabLst>
                <a:tab pos="24765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</a:t>
            </a:r>
            <a:r>
              <a:rPr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B4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affordable.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6380" indent="-233680" algn="just">
              <a:lnSpc>
                <a:spcPct val="100000"/>
              </a:lnSpc>
              <a:spcBef>
                <a:spcPts val="600"/>
              </a:spcBef>
              <a:buAutoNum type="arabicPeriod" startAt="4"/>
              <a:tabLst>
                <a:tab pos="245745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DeepestNet</a:t>
            </a:r>
            <a:r>
              <a:rPr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Classifier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DeepestNet</a:t>
            </a:r>
            <a:r>
              <a:rPr spc="3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spc="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spc="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spc="3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</a:t>
            </a:r>
            <a:r>
              <a:rPr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spc="3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pc="3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appropriate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</a:t>
            </a:r>
            <a:r>
              <a:rPr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features.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7650" indent="-234950" algn="just">
              <a:lnSpc>
                <a:spcPct val="100000"/>
              </a:lnSpc>
              <a:spcBef>
                <a:spcPts val="600"/>
              </a:spcBef>
              <a:buAutoNum type="arabicPeriod" startAt="5"/>
              <a:tabLst>
                <a:tab pos="247650" algn="l"/>
              </a:tabLst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>
              <a:lnSpc>
                <a:spcPct val="100000"/>
              </a:lnSpc>
              <a:spcBef>
                <a:spcPts val="600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pest,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  <a:r>
              <a:rPr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prediction.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74435" y="1524000"/>
            <a:ext cx="2388235" cy="41440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765" y="402590"/>
            <a:ext cx="8227060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843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spc="-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1147317"/>
            <a:ext cx="8073390" cy="3122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1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sz="1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1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annotated</a:t>
            </a:r>
            <a:r>
              <a:rPr sz="1800" spc="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field-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sz="1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8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3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sz="1800" spc="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collected</a:t>
            </a:r>
            <a:r>
              <a:rPr sz="1800" spc="4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</a:t>
            </a:r>
            <a:r>
              <a:rPr sz="1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</a:t>
            </a:r>
            <a:r>
              <a:rPr sz="1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  <a:r>
              <a:rPr sz="18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sz="18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800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resized</a:t>
            </a:r>
            <a:r>
              <a:rPr sz="1800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380</a:t>
            </a:r>
            <a:r>
              <a:rPr sz="1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sz="1800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380</a:t>
            </a:r>
            <a:r>
              <a:rPr sz="1800"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(RGB),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normalized,</a:t>
            </a:r>
            <a:r>
              <a:rPr sz="1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augmented</a:t>
            </a:r>
            <a:r>
              <a:rPr sz="1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r>
              <a:rPr sz="18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robustness.</a:t>
            </a:r>
            <a:r>
              <a:rPr sz="1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1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80:20</a:t>
            </a:r>
            <a:r>
              <a:rPr sz="1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train–test</a:t>
            </a:r>
            <a:r>
              <a:rPr sz="1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sz="1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agriculture.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815"/>
              </a:spcBef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sz="1800" b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Included: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Image: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RGB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Label:</a:t>
            </a:r>
            <a:r>
              <a:rPr sz="1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pest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r>
              <a:rPr sz="1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sz="1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380</a:t>
            </a:r>
            <a:r>
              <a:rPr sz="1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380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  <a:r>
              <a:rPr sz="1800"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2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354965" algn="l"/>
              </a:tabLst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Augmentation:</a:t>
            </a:r>
            <a:r>
              <a:rPr sz="1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Rotation,</a:t>
            </a:r>
            <a:r>
              <a:rPr sz="1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flipping,</a:t>
            </a:r>
            <a:r>
              <a:rPr sz="1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contrast</a:t>
            </a:r>
            <a:r>
              <a:rPr sz="1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enhancement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/>
          <p:nvPr>
            <p:ph type="title"/>
          </p:nvPr>
        </p:nvSpPr>
        <p:spPr>
          <a:xfrm>
            <a:off x="1548764" y="402716"/>
            <a:ext cx="6046470" cy="400050"/>
          </a:xfrm>
        </p:spPr>
        <p:txBody>
          <a:bodyPr/>
          <a:p>
            <a:pPr algn="ctr"/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4874260" y="277241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/>
          <p:cNvGraphicFramePr/>
          <p:nvPr>
            <p:custDataLst>
              <p:tags r:id="rId1"/>
            </p:custDataLst>
          </p:nvPr>
        </p:nvGraphicFramePr>
        <p:xfrm>
          <a:off x="815340" y="1490980"/>
          <a:ext cx="7833995" cy="2840355"/>
        </p:xfrm>
        <a:graphic>
          <a:graphicData uri="http://schemas.openxmlformats.org/drawingml/2006/table">
            <a:tbl>
              <a:tblPr/>
              <a:tblGrid>
                <a:gridCol w="2357755"/>
                <a:gridCol w="1647825"/>
                <a:gridCol w="1337945"/>
                <a:gridCol w="1036320"/>
                <a:gridCol w="1454150"/>
              </a:tblGrid>
              <a:tr h="86360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Model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Accuracy (%)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Precision (%)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Recall (%)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F1-Score (%)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855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Faster R-CNN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88.5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85.2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86.8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86.0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YOLOv5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91.2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89.5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90.3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89.9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322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Traditional CNN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85.7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83.1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82.5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82.8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86460"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DeepestNet + EfficientNet-B4 (Proposed)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95.4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94.1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94.8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ts val="500"/>
                        </a:spcBef>
                        <a:spcAft>
                          <a:spcPts val="500"/>
                        </a:spcAft>
                      </a:pPr>
                      <a:r>
                        <a:rPr lang="en-US" altLang="zh-CN" sz="16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94.4</a:t>
                      </a:r>
                      <a:endParaRPr lang="en-US" altLang="zh-CN" sz="16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4" y="402716"/>
            <a:ext cx="6046470" cy="400050"/>
          </a:xfrm>
        </p:spPr>
        <p:txBody>
          <a:bodyPr/>
          <a:p>
            <a:pPr algn="ctr"/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Result 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010" y="1957705"/>
            <a:ext cx="3810635" cy="2954655"/>
          </a:xfrm>
        </p:spPr>
        <p:txBody>
          <a:bodyPr>
            <a:noAutofit/>
          </a:bodyPr>
          <a:p>
            <a:pPr indent="0">
              <a:buFont typeface="Arial" panose="020B0604020202020204" pitchFamily="34" charset="0"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4" descr="C:/Users/demo/Downloads/photo2.pngphoto2"/>
          <p:cNvPicPr>
            <a:picLocks noChangeAspect="1"/>
          </p:cNvPicPr>
          <p:nvPr/>
        </p:nvPicPr>
        <p:blipFill>
          <a:blip r:embed="rId1"/>
          <a:srcRect t="834" b="834"/>
          <a:stretch>
            <a:fillRect/>
          </a:stretch>
        </p:blipFill>
        <p:spPr>
          <a:xfrm>
            <a:off x="2057400" y="1123315"/>
            <a:ext cx="5848350" cy="46113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8764" y="402716"/>
            <a:ext cx="6046470" cy="400050"/>
          </a:xfrm>
        </p:spPr>
        <p:txBody>
          <a:bodyPr/>
          <a:p>
            <a:pPr algn="ctr"/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940" y="1099464"/>
            <a:ext cx="8074025" cy="1661795"/>
          </a:xfrm>
        </p:spPr>
        <p:txBody>
          <a:bodyPr/>
          <a:p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proposed DeepestNet with EfficientNet-B4 model provides accurate and efficient crop pest detection, achieving 95.4% accuracy. It supports real-time field deployment, reduces pesticide overuse, and improves crop productivity. Future work focuses on larger datasets, IoT/drone integration, and enhanced model interpretability for smart precision agriculture.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48765" y="402590"/>
            <a:ext cx="6835775" cy="413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96135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147927"/>
            <a:ext cx="8083550" cy="4544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30480" indent="-340995" algn="just">
              <a:lnSpc>
                <a:spcPct val="12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120775" algn="l"/>
                <a:tab pos="2237740" algn="l"/>
                <a:tab pos="2975610" algn="l"/>
                <a:tab pos="4370070" algn="l"/>
                <a:tab pos="5228590" algn="l"/>
                <a:tab pos="6249670" algn="l"/>
                <a:tab pos="694626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Ali, </a:t>
            </a:r>
            <a:r>
              <a:rPr sz="1400" spc="-40" dirty="0">
                <a:latin typeface="Times New Roman" panose="02020603050405020304"/>
                <a:cs typeface="Times New Roman" panose="02020603050405020304"/>
              </a:rPr>
              <a:t>F.,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Qayyum,</a:t>
            </a:r>
            <a:r>
              <a:rPr sz="14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H.,</a:t>
            </a:r>
            <a:r>
              <a:rPr sz="14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Iqbal,</a:t>
            </a:r>
            <a:r>
              <a:rPr sz="1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(2023).</a:t>
            </a:r>
            <a:r>
              <a:rPr sz="1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Faster-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PestNet:</a:t>
            </a:r>
            <a:r>
              <a:rPr sz="1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lightweight</a:t>
            </a:r>
            <a:r>
              <a:rPr sz="1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framework</a:t>
            </a:r>
            <a:r>
              <a:rPr sz="1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crop 	pest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Access,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11,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spc="-30" dirty="0">
                <a:latin typeface="Times New Roman" panose="02020603050405020304"/>
                <a:cs typeface="Times New Roman" panose="02020603050405020304"/>
              </a:rPr>
              <a:t>101234-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101245 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1"/>
              </a:rPr>
              <a:t>https://doi.org/10.1109/ACCESS.2023.3317506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353060" marR="29845" indent="-340995" algn="just">
              <a:lnSpc>
                <a:spcPct val="120000"/>
              </a:lnSpc>
              <a:spcBef>
                <a:spcPts val="1200"/>
              </a:spcBef>
              <a:buFont typeface="Arial MT"/>
              <a:buChar char="•"/>
              <a:tabLst>
                <a:tab pos="36893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Ullah,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N.,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Khan,</a:t>
            </a:r>
            <a:r>
              <a:rPr sz="1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4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Alharbi,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L.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Raza,</a:t>
            </a:r>
            <a:r>
              <a:rPr sz="1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Khan,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W.,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Ahmad,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I.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(2022).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efficient</a:t>
            </a:r>
            <a:r>
              <a:rPr sz="1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for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crops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pests</a:t>
            </a:r>
            <a:r>
              <a:rPr sz="14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recognition</a:t>
            </a:r>
            <a:r>
              <a:rPr sz="14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4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14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4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novel</a:t>
            </a:r>
            <a:r>
              <a:rPr sz="14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DeepPestNet</a:t>
            </a:r>
            <a:r>
              <a:rPr sz="1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400" spc="4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model.IEEE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Access,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10,</a:t>
            </a:r>
            <a:r>
              <a:rPr sz="1400" spc="-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75922–75934.</a:t>
            </a:r>
            <a:r>
              <a:rPr sz="14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https://doi.org/10.1109/ACCESS.2022.3189676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353060" marR="5080" indent="-340995" algn="just">
              <a:lnSpc>
                <a:spcPct val="120000"/>
              </a:lnSpc>
              <a:spcBef>
                <a:spcPts val="1200"/>
              </a:spcBef>
              <a:buFont typeface="Arial MT"/>
              <a:buChar char="•"/>
              <a:tabLst>
                <a:tab pos="36893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Akbar,</a:t>
            </a:r>
            <a:r>
              <a:rPr sz="1400" spc="2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U.</a:t>
            </a:r>
            <a:r>
              <a:rPr sz="14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Kamarulzaman,</a:t>
            </a:r>
            <a:r>
              <a:rPr sz="1400" spc="2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F.,</a:t>
            </a:r>
            <a:r>
              <a:rPr sz="14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Muzahid,</a:t>
            </a:r>
            <a:r>
              <a:rPr sz="14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14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Rahman,</a:t>
            </a:r>
            <a:r>
              <a:rPr sz="1400" spc="2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4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Uddin,</a:t>
            </a:r>
            <a:r>
              <a:rPr sz="14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400" spc="2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(2024).</a:t>
            </a:r>
            <a:r>
              <a:rPr sz="1400" spc="2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A </a:t>
            </a: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comprehensive</a:t>
            </a:r>
            <a:r>
              <a:rPr sz="1400" spc="43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review</a:t>
            </a:r>
            <a:r>
              <a:rPr sz="1400" spc="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400" spc="40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400" spc="14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400" spc="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assisted</a:t>
            </a:r>
            <a:r>
              <a:rPr sz="1400" spc="4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1400" spc="4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vision</a:t>
            </a:r>
            <a:r>
              <a:rPr sz="1400" spc="4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techniques</a:t>
            </a:r>
            <a:r>
              <a:rPr sz="1400" spc="150" dirty="0"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spc="4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400" spc="4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greenhouse 	agriculture.</a:t>
            </a:r>
            <a:r>
              <a:rPr sz="14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IEEEAccess,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12,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1944–1968.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3"/>
              </a:rPr>
              <a:t>https://doi.org/10.1109/ACCESS.2024.3349418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Font typeface="Arial MT"/>
              <a:buChar char="•"/>
            </a:pP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Nguyen-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Tan,</a:t>
            </a:r>
            <a:r>
              <a:rPr sz="14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T.,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4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Le-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Trung,</a:t>
            </a:r>
            <a:r>
              <a:rPr sz="14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Q.</a:t>
            </a:r>
            <a:r>
              <a:rPr sz="14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(2024).</a:t>
            </a:r>
            <a:r>
              <a:rPr sz="14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400" spc="-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novel 5G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PMN-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driven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approach</a:t>
            </a:r>
            <a:r>
              <a:rPr sz="14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for</a:t>
            </a:r>
            <a:r>
              <a:rPr sz="14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AI-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powered</a:t>
            </a:r>
            <a:r>
              <a:rPr sz="1400" spc="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irrigation</a:t>
            </a:r>
            <a:r>
              <a:rPr sz="14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and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40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health</a:t>
            </a:r>
            <a:r>
              <a:rPr sz="1400" spc="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monitoring.</a:t>
            </a:r>
            <a:r>
              <a:rPr sz="14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IEEEAccess,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12,</a:t>
            </a:r>
            <a:r>
              <a:rPr sz="1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89231–89244.</a:t>
            </a:r>
            <a:r>
              <a:rPr sz="14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4"/>
              </a:rPr>
              <a:t>https://doi.org/10.1109/ACCESS.2024.3452719</a:t>
            </a:r>
            <a:endParaRPr sz="1400">
              <a:latin typeface="Times New Roman" panose="02020603050405020304"/>
              <a:cs typeface="Times New Roman" panose="02020603050405020304"/>
            </a:endParaRPr>
          </a:p>
          <a:p>
            <a:pPr marL="353060" marR="27305" indent="-340995" algn="just">
              <a:lnSpc>
                <a:spcPct val="120000"/>
              </a:lnSpc>
              <a:spcBef>
                <a:spcPts val="1015"/>
              </a:spcBef>
              <a:buFont typeface="Arial MT"/>
              <a:buChar char="•"/>
              <a:tabLst>
                <a:tab pos="368935" algn="l"/>
              </a:tabLst>
            </a:pPr>
            <a:r>
              <a:rPr sz="1400" dirty="0">
                <a:latin typeface="Times New Roman" panose="02020603050405020304"/>
                <a:cs typeface="Times New Roman" panose="02020603050405020304"/>
              </a:rPr>
              <a:t>Li,</a:t>
            </a:r>
            <a:r>
              <a:rPr sz="14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X.,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Hou,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Tang,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H.,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Talpur,</a:t>
            </a:r>
            <a:r>
              <a:rPr sz="1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Zeeshan,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Z.,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Bhatti,</a:t>
            </a:r>
            <a:r>
              <a:rPr sz="14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U.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Liao,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Liu,</a:t>
            </a:r>
            <a:r>
              <a:rPr sz="1400" spc="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J.,</a:t>
            </a:r>
            <a:r>
              <a:rPr sz="14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Alabdullah,</a:t>
            </a:r>
            <a:r>
              <a:rPr sz="14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B.,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4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Al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Naimi,</a:t>
            </a:r>
            <a:r>
              <a:rPr sz="14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I.</a:t>
            </a:r>
            <a:r>
              <a:rPr sz="14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14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(2024).</a:t>
            </a:r>
            <a:r>
              <a:rPr sz="1400" spc="1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Abnormal</a:t>
            </a:r>
            <a:r>
              <a:rPr sz="14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crops</a:t>
            </a:r>
            <a:r>
              <a:rPr sz="14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image</a:t>
            </a:r>
            <a:r>
              <a:rPr sz="1400" spc="1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4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acquisition</a:t>
            </a:r>
            <a:r>
              <a:rPr sz="14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strategy</a:t>
            </a:r>
            <a:r>
              <a:rPr sz="140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40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exploiting</a:t>
            </a:r>
            <a:r>
              <a:rPr sz="14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edge</a:t>
            </a:r>
            <a:r>
              <a:rPr sz="1400" spc="1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intelligence</a:t>
            </a:r>
            <a:r>
              <a:rPr sz="14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and 	dynamic-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static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synergy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agriculture.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Journal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4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Selected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25" dirty="0">
                <a:latin typeface="Times New Roman" panose="02020603050405020304"/>
                <a:cs typeface="Times New Roman" panose="02020603050405020304"/>
              </a:rPr>
              <a:t>Topics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in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Applied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Earth</a:t>
            </a:r>
            <a:r>
              <a:rPr sz="14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Observations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40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1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Sensing,</a:t>
            </a:r>
            <a:r>
              <a:rPr sz="14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17,</a:t>
            </a:r>
            <a:r>
              <a:rPr sz="1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dirty="0">
                <a:latin typeface="Times New Roman" panose="02020603050405020304"/>
                <a:cs typeface="Times New Roman" panose="02020603050405020304"/>
              </a:rPr>
              <a:t>6543–6557.</a:t>
            </a:r>
            <a:r>
              <a:rPr sz="14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400" spc="-10" dirty="0">
                <a:latin typeface="Times New Roman" panose="02020603050405020304"/>
                <a:cs typeface="Times New Roman" panose="02020603050405020304"/>
              </a:rPr>
              <a:t>https://doi.org/10.1109/JSTARS.2024.3414306</a:t>
            </a:r>
            <a:endParaRPr sz="1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79345" y="332105"/>
            <a:ext cx="4446905" cy="443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solidFill>
                  <a:srgbClr val="00AE50"/>
                </a:solidFill>
                <a:latin typeface="Times New Roman" panose="02020603050405020304"/>
                <a:cs typeface="Times New Roman" panose="02020603050405020304"/>
              </a:rPr>
              <a:t>References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20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162304"/>
            <a:ext cx="8090534" cy="1076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5080" indent="-344805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  <a:tab pos="361950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Yang,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H.,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Xu,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95" dirty="0">
                <a:latin typeface="Times New Roman" panose="02020603050405020304"/>
                <a:cs typeface="Times New Roman" panose="02020603050405020304"/>
              </a:rPr>
              <a:t>P.,</a:t>
            </a:r>
            <a:r>
              <a:rPr sz="1600" spc="-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Zhang,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S.,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Kim,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H.,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spc="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Shin,</a:t>
            </a:r>
            <a:r>
              <a:rPr sz="1600" spc="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(2025).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Construction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intelligent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analysis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system for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crop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health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status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drone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remote</a:t>
            </a:r>
            <a:r>
              <a:rPr sz="1600" spc="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sensing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CNN.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Access,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13,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16721–16733.</a:t>
            </a:r>
            <a:r>
              <a:rPr sz="1600" u="sng" spc="-1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1"/>
              </a:rPr>
              <a:t> 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1"/>
              </a:rPr>
              <a:t>https://doi.org/10.1109/ACCESS.2025.3540279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62585" indent="-349885" algn="just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62585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Liu,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W.,</a:t>
            </a:r>
            <a:r>
              <a:rPr sz="1600" spc="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Wu,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G.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(2020).</a:t>
            </a:r>
            <a:r>
              <a:rPr sz="1600" spc="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35" dirty="0">
                <a:latin typeface="Times New Roman" panose="02020603050405020304"/>
                <a:cs typeface="Times New Roman" panose="02020603050405020304"/>
              </a:rPr>
              <a:t>DFF-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ResNet:</a:t>
            </a:r>
            <a:r>
              <a:rPr sz="16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insect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recognition</a:t>
            </a:r>
            <a:r>
              <a:rPr sz="1600" spc="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model</a:t>
            </a:r>
            <a:r>
              <a:rPr sz="1600" spc="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based</a:t>
            </a:r>
            <a:r>
              <a:rPr sz="1600" spc="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residual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363" y="2214752"/>
            <a:ext cx="15868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86510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networks.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Big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29508" y="2214752"/>
            <a:ext cx="56743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75030" algn="l"/>
                <a:tab pos="1955800" algn="l"/>
                <a:tab pos="2729865" algn="l"/>
                <a:tab pos="4037965" algn="l"/>
                <a:tab pos="490664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Data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Mining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Analytics,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3(4),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300–310.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940" y="2382164"/>
            <a:ext cx="7995284" cy="665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700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2"/>
              </a:rPr>
              <a:t>https://doi.org/10.26599/BDMA.2020.9020021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56870" indent="-34417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6870" algn="l"/>
              </a:tabLst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Li,</a:t>
            </a:r>
            <a:r>
              <a:rPr sz="16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L.,</a:t>
            </a:r>
            <a:r>
              <a:rPr sz="1600" spc="2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Zhang,</a:t>
            </a:r>
            <a:r>
              <a:rPr sz="1600" spc="2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S.,</a:t>
            </a:r>
            <a:r>
              <a:rPr sz="16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Wang,</a:t>
            </a:r>
            <a:r>
              <a:rPr sz="16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B.</a:t>
            </a:r>
            <a:r>
              <a:rPr sz="16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(2021).</a:t>
            </a:r>
            <a:r>
              <a:rPr sz="16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Plant</a:t>
            </a:r>
            <a:r>
              <a:rPr sz="1600" spc="2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disease</a:t>
            </a:r>
            <a:r>
              <a:rPr sz="1600" spc="2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detection</a:t>
            </a:r>
            <a:r>
              <a:rPr sz="16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</a:t>
            </a:r>
            <a:r>
              <a:rPr sz="1600" spc="2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classification</a:t>
            </a:r>
            <a:r>
              <a:rPr sz="1600" spc="2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by</a:t>
            </a:r>
            <a:r>
              <a:rPr sz="1600" spc="2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deep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363" y="3022854"/>
            <a:ext cx="23564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3395" algn="l"/>
              </a:tabLst>
            </a:pP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learning—</a:t>
            </a:r>
            <a:r>
              <a:rPr sz="1600" spc="-5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review.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6464" y="3022854"/>
            <a:ext cx="4635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95070" algn="l"/>
                <a:tab pos="2565400" algn="l"/>
                <a:tab pos="3464560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Access,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9,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56683–56698.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3190303"/>
            <a:ext cx="7991475" cy="90931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695"/>
              </a:spcBef>
            </a:pP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3"/>
              </a:rPr>
              <a:t>https://doi.org/10.1109/ACCESS.2021.3069646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44170" marR="22860" indent="-344170" algn="r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44170" algn="l"/>
              </a:tabLst>
            </a:pPr>
            <a:r>
              <a:rPr sz="1600" spc="-75" dirty="0">
                <a:latin typeface="Times New Roman" panose="02020603050405020304"/>
                <a:cs typeface="Times New Roman" panose="02020603050405020304"/>
              </a:rPr>
              <a:t>Vilar-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Andreu,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16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García,</a:t>
            </a:r>
            <a:r>
              <a:rPr sz="16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L.,</a:t>
            </a:r>
            <a:r>
              <a:rPr sz="1600" spc="1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García-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Sánchez,</a:t>
            </a:r>
            <a:r>
              <a:rPr sz="16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A.-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J.,</a:t>
            </a:r>
            <a:r>
              <a:rPr sz="16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Asorey-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Cacheda,</a:t>
            </a:r>
            <a:r>
              <a:rPr sz="16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R.,</a:t>
            </a:r>
            <a:r>
              <a:rPr sz="160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30" dirty="0">
                <a:latin typeface="Times New Roman" panose="02020603050405020304"/>
                <a:cs typeface="Times New Roman" panose="02020603050405020304"/>
              </a:rPr>
              <a:t>Garcia-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Haro,</a:t>
            </a:r>
            <a:r>
              <a:rPr sz="16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J.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 panose="02020603050405020304"/>
                <a:cs typeface="Times New Roman" panose="02020603050405020304"/>
              </a:rPr>
              <a:t>(2024).</a:t>
            </a:r>
            <a:r>
              <a:rPr sz="16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Enhancing</a:t>
            </a:r>
            <a:r>
              <a:rPr sz="16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precision</a:t>
            </a:r>
            <a:r>
              <a:rPr sz="16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agriculture</a:t>
            </a:r>
            <a:r>
              <a:rPr sz="16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pest</a:t>
            </a:r>
            <a:r>
              <a:rPr sz="160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control:</a:t>
            </a:r>
            <a:r>
              <a:rPr sz="1600" spc="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generalized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6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600" spc="1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approach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80363" y="4075303"/>
            <a:ext cx="20586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685" algn="l"/>
              </a:tabLst>
            </a:pP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with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40" dirty="0">
                <a:latin typeface="Times New Roman" panose="02020603050405020304"/>
                <a:cs typeface="Times New Roman" panose="02020603050405020304"/>
              </a:rPr>
              <a:t>YOLOv8-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based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353561" y="4075303"/>
            <a:ext cx="52558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2810" algn="l"/>
                <a:tab pos="2100580" algn="l"/>
                <a:tab pos="2943225" algn="l"/>
                <a:tab pos="3976370" algn="l"/>
                <a:tab pos="4638040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insect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detection.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Access,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12,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67521–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0240" y="4242206"/>
            <a:ext cx="7974965" cy="9105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700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67534.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4"/>
              </a:rPr>
              <a:t>https://doi.org/10.1109/ACCESS.2024.3413979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335280" marR="5080" indent="-323215">
              <a:lnSpc>
                <a:spcPct val="100000"/>
              </a:lnSpc>
              <a:spcBef>
                <a:spcPts val="605"/>
              </a:spcBef>
              <a:buChar char="•"/>
              <a:tabLst>
                <a:tab pos="335280" algn="l"/>
                <a:tab pos="356870" algn="l"/>
              </a:tabLst>
            </a:pPr>
            <a:r>
              <a:rPr sz="1600" dirty="0">
                <a:latin typeface="Arial MT"/>
                <a:cs typeface="Arial MT"/>
              </a:rPr>
              <a:t>	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Akbar,</a:t>
            </a:r>
            <a:r>
              <a:rPr sz="16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U.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16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Kamarulzaman,</a:t>
            </a:r>
            <a:r>
              <a:rPr sz="1600" spc="2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S.</a:t>
            </a:r>
            <a:r>
              <a:rPr sz="1600" spc="1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F.,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Muzahid,</a:t>
            </a:r>
            <a:r>
              <a:rPr sz="1600" spc="1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A.</a:t>
            </a:r>
            <a:r>
              <a:rPr sz="1600" spc="2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J.</a:t>
            </a:r>
            <a:r>
              <a:rPr sz="16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M.,</a:t>
            </a:r>
            <a:r>
              <a:rPr sz="1600" spc="1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Rahman,</a:t>
            </a:r>
            <a:r>
              <a:rPr sz="16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M.</a:t>
            </a:r>
            <a:r>
              <a:rPr sz="1600" spc="1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A.,</a:t>
            </a:r>
            <a:r>
              <a:rPr sz="16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&amp;</a:t>
            </a:r>
            <a:r>
              <a:rPr sz="16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Uddin,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M.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(2024).</a:t>
            </a:r>
            <a:r>
              <a:rPr sz="1600" spc="8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comprehensive</a:t>
            </a:r>
            <a:r>
              <a:rPr sz="1600" spc="2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review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on</a:t>
            </a:r>
            <a:r>
              <a:rPr sz="16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deep</a:t>
            </a:r>
            <a:r>
              <a:rPr sz="16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learning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assisted</a:t>
            </a:r>
            <a:r>
              <a:rPr sz="1600" spc="1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computer</a:t>
            </a:r>
            <a:r>
              <a:rPr sz="1600" spc="229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vision</a:t>
            </a:r>
            <a:r>
              <a:rPr sz="1600" spc="20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techniques</a:t>
            </a:r>
            <a:r>
              <a:rPr sz="1600" spc="17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for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0363" y="5126812"/>
            <a:ext cx="7728584" cy="513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61085" algn="l"/>
                <a:tab pos="2583815" algn="l"/>
                <a:tab pos="4110990" algn="l"/>
                <a:tab pos="5140960" algn="l"/>
                <a:tab pos="6363970" algn="l"/>
                <a:tab pos="7210425" algn="l"/>
              </a:tabLst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smart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greenhouse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agriculture.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0" dirty="0">
                <a:latin typeface="Times New Roman" panose="02020603050405020304"/>
                <a:cs typeface="Times New Roman" panose="02020603050405020304"/>
              </a:rPr>
              <a:t>IEEE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Access,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25" dirty="0">
                <a:latin typeface="Times New Roman" panose="02020603050405020304"/>
                <a:cs typeface="Times New Roman" panose="02020603050405020304"/>
              </a:rPr>
              <a:t>12,</a:t>
            </a:r>
            <a:r>
              <a:rPr sz="1600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1944–</a:t>
            </a:r>
            <a:endParaRPr sz="16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 panose="02020603050405020304"/>
                <a:cs typeface="Times New Roman" panose="02020603050405020304"/>
              </a:rPr>
              <a:t>1968.</a:t>
            </a:r>
            <a:r>
              <a:rPr sz="16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  <a:hlinkClick r:id="rId5"/>
              </a:rPr>
              <a:t>https://doi.org/10.1109/ACCESS.2024.3349418</a:t>
            </a:r>
            <a:endParaRPr sz="16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0800000" flipH="1" flipV="1">
            <a:off x="533400" y="1752600"/>
            <a:ext cx="8056245" cy="4083685"/>
          </a:xfrm>
        </p:spPr>
        <p:txBody>
          <a:bodyPr>
            <a:noAutofit/>
          </a:bodyPr>
          <a:p>
            <a:pPr algn="ctr"/>
            <a:r>
              <a:rPr lang="en-IN" altLang="en-US" sz="9600">
                <a:solidFill>
                  <a:schemeClr val="tx1"/>
                </a:solidFill>
                <a:latin typeface="Matura MT Script Capitals" panose="03020802060602070202" charset="0"/>
                <a:cs typeface="Matura MT Script Capitals" panose="03020802060602070202" charset="0"/>
              </a:rPr>
              <a:t>Any </a:t>
            </a:r>
            <a:br>
              <a:rPr lang="en-IN" altLang="en-US" sz="9600">
                <a:solidFill>
                  <a:schemeClr val="tx1"/>
                </a:solidFill>
                <a:latin typeface="Matura MT Script Capitals" panose="03020802060602070202" charset="0"/>
                <a:cs typeface="Matura MT Script Capitals" panose="03020802060602070202" charset="0"/>
              </a:rPr>
            </a:br>
            <a:r>
              <a:rPr lang="en-IN" altLang="en-US" sz="9600">
                <a:solidFill>
                  <a:schemeClr val="tx1"/>
                </a:solidFill>
                <a:latin typeface="Matura MT Script Capitals" panose="03020802060602070202" charset="0"/>
                <a:cs typeface="Matura MT Script Capitals" panose="03020802060602070202" charset="0"/>
              </a:rPr>
              <a:t>Queries?</a:t>
            </a:r>
            <a:endParaRPr lang="en-IN" altLang="en-US" sz="9600">
              <a:solidFill>
                <a:schemeClr val="tx1"/>
              </a:solidFill>
              <a:latin typeface="Matura MT Script Capitals" panose="03020802060602070202" charset="0"/>
              <a:cs typeface="Matura MT Script Capitals" panose="03020802060602070202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800" y="1828800"/>
            <a:ext cx="3253740" cy="1300480"/>
          </a:xfrm>
        </p:spPr>
        <p:txBody>
          <a:bodyPr>
            <a:noAutofit/>
          </a:bodyPr>
          <a:p>
            <a:r>
              <a:rPr lang="en-IN" altLang="en-US" sz="9600">
                <a:latin typeface="Matura MT Script Capitals" panose="03020802060602070202" charset="0"/>
                <a:cs typeface="Matura MT Script Capitals" panose="03020802060602070202" charset="0"/>
              </a:rPr>
              <a:t>    </a:t>
            </a:r>
            <a:endParaRPr lang="en-IN" altLang="en-US" sz="9600">
              <a:latin typeface="Matura MT Script Capitals" panose="03020802060602070202" charset="0"/>
              <a:cs typeface="Matura MT Script Capitals" panose="03020802060602070202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1548765" y="1447800"/>
            <a:ext cx="6046470" cy="1287145"/>
          </a:xfrm>
        </p:spPr>
        <p:txBody>
          <a:bodyPr>
            <a:noAutofit/>
          </a:bodyPr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2450" y="1462405"/>
            <a:ext cx="5772785" cy="3335655"/>
          </a:xfrm>
        </p:spPr>
        <p:txBody>
          <a:bodyPr>
            <a:noAutofit/>
          </a:bodyPr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75" y="990600"/>
            <a:ext cx="7277100" cy="51193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24*177"/>
  <p:tag name="TABLE_ENDDRAG_RECT" val="64*177*524*17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10112</Words>
  <Application>WPS Presentation</Application>
  <PresentationFormat>On-screen Show (4:3)</PresentationFormat>
  <Paragraphs>242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5" baseType="lpstr">
      <vt:lpstr>Arial</vt:lpstr>
      <vt:lpstr>SimSun</vt:lpstr>
      <vt:lpstr>Wingdings</vt:lpstr>
      <vt:lpstr>Tahoma</vt:lpstr>
      <vt:lpstr>Calibri</vt:lpstr>
      <vt:lpstr>Times New Roman</vt:lpstr>
      <vt:lpstr>Times New Roman</vt:lpstr>
      <vt:lpstr>Verdana</vt:lpstr>
      <vt:lpstr>Arial MT</vt:lpstr>
      <vt:lpstr>Microsoft YaHei</vt:lpstr>
      <vt:lpstr>Arial Unicode MS</vt:lpstr>
      <vt:lpstr>Wingdings</vt:lpstr>
      <vt:lpstr>Arial</vt:lpstr>
      <vt:lpstr>Matura MT Script Capitals</vt:lpstr>
      <vt:lpstr>Stencil</vt:lpstr>
      <vt:lpstr>Wide Latin</vt:lpstr>
      <vt:lpstr>Tw Cen MT</vt:lpstr>
      <vt:lpstr>Verdana</vt:lpstr>
      <vt:lpstr>Yu Gothic UI Semilight</vt:lpstr>
      <vt:lpstr>Vladimir Script</vt:lpstr>
      <vt:lpstr>MS Outlook</vt:lpstr>
      <vt:lpstr>Malgun Gothic Semilight</vt:lpstr>
      <vt:lpstr>Office Theme</vt:lpstr>
      <vt:lpstr>&amp;</vt:lpstr>
      <vt:lpstr>Table of Contents</vt:lpstr>
      <vt:lpstr>Introduction</vt:lpstr>
      <vt:lpstr>Abstract</vt:lpstr>
      <vt:lpstr>Introduction</vt:lpstr>
      <vt:lpstr>Literature Survey</vt:lpstr>
      <vt:lpstr>Literature Survey</vt:lpstr>
      <vt:lpstr>Literature Survey</vt:lpstr>
      <vt:lpstr>Problem Statement</vt:lpstr>
      <vt:lpstr>Objectives</vt:lpstr>
      <vt:lpstr>Objectives</vt:lpstr>
      <vt:lpstr>Objectives</vt:lpstr>
      <vt:lpstr>Proposed System Design</vt:lpstr>
      <vt:lpstr>Algorithm</vt:lpstr>
      <vt:lpstr>Dataset Description</vt:lpstr>
      <vt:lpstr>Result </vt:lpstr>
      <vt:lpstr>Result </vt:lpstr>
      <vt:lpstr>Conclusion</vt:lpstr>
      <vt:lpstr>References</vt:lpstr>
      <vt:lpstr>References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tejaswi munthala</cp:lastModifiedBy>
  <cp:revision>7</cp:revision>
  <dcterms:created xsi:type="dcterms:W3CDTF">2026-02-23T05:29:00Z</dcterms:created>
  <dcterms:modified xsi:type="dcterms:W3CDTF">2026-02-23T08:05:05Z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2026-02-05T22:00:00Z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2026-02-23T22:00:00Z</vt:filetime>
  </property>
  <property fmtid="{D5CDD505-2E9C-101B-9397-08002B2CF9AE}" pid="5" name="Producer">
    <vt:lpwstr>www.ilovepdf.com</vt:lpwstr>
  </property>
  <property fmtid="{D5CDD505-2E9C-101B-9397-08002B2CF9AE}" pid="6" name="ICV">
    <vt:lpwstr>E7D794B319344270A516061AA2180837_12</vt:lpwstr>
  </property>
  <property fmtid="{D5CDD505-2E9C-101B-9397-08002B2CF9AE}" pid="7" name="KSOProductBuildVer">
    <vt:lpwstr>1033-12.2.0.23196</vt:lpwstr>
  </property>
</Properties>
</file>